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ookOpen-gol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418320" y="137160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LibMan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Library Management System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 •  Circulation  •  Digital Lending  •  Payments — one platform, fully deployed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Asante Gabriel Kwaku   |   Project Report Presentation   |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LibMan?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4" name="Image 0" descr="icons/triangleExclai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61986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4168" y="1499616"/>
            <a:ext cx="5330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borrowing logs are slow, and easy to lose or misfile.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7" name="Image 1" descr="icons/triangleExclaim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714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4168" y="2551176"/>
            <a:ext cx="5330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needs a staff member at a desk to process.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0" name="Image 2" descr="icons/triangleExclaim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722980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44168" y="3602736"/>
            <a:ext cx="5330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lending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way to lend and read ebook titles online.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3" name="Image 3" descr="icons/triangleExclaim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774540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4168" y="4654296"/>
            <a:ext cx="5330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 collection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and fees are tracked and collected by hand.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223760" y="1737360"/>
            <a:ext cx="4343400" cy="3566160"/>
          </a:xfrm>
          <a:prstGeom prst="roundRect">
            <a:avLst>
              <a:gd name="adj" fmla="val 3077"/>
            </a:avLst>
          </a:prstGeom>
          <a:solidFill>
            <a:srgbClr val="041632"/>
          </a:solidFill>
          <a:ln/>
        </p:spPr>
      </p:sp>
      <p:sp>
        <p:nvSpPr>
          <p:cNvPr id="16" name="Text 10"/>
          <p:cNvSpPr/>
          <p:nvPr/>
        </p:nvSpPr>
        <p:spPr>
          <a:xfrm>
            <a:off x="7543800" y="274320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2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physical circulation, digital lending, and payments — built and deployed end to end.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bulls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61" y="167390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borrowing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request, and manage loans without staff intervention.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06240" y="160020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1" descr="icons/boo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41" y="1673901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digital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printed copies and ebook lending alike.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2" descr="icons/moneyBil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821" y="1673901"/>
            <a:ext cx="419527" cy="4195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1812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processing for fines and membership dues.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94360" y="356616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3" name="Image 3" descr="icons/user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1" y="3639861"/>
            <a:ext cx="419527" cy="4195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36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toolkit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catalogue, circulation, and user administration.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206240" y="356616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6" name="Image 4" descr="icons/shiel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41" y="3639861"/>
            <a:ext cx="419527" cy="4195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0624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automatically, every time.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7818120" y="3566160"/>
            <a:ext cx="566928" cy="566928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9" name="Image 5" descr="icons/clou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821" y="3639861"/>
            <a:ext cx="419527" cy="41952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1812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production, continuously reachable.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141732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D9CBA8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 (PWA)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80760" y="1965960"/>
            <a:ext cx="9144" cy="36576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23360" y="23774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— Cloudflare Workers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926080"/>
            <a:ext cx="9144" cy="36576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94760" y="333756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041632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— Render (Docker)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2743200" y="3931920"/>
            <a:ext cx="2286000" cy="54864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3931920"/>
            <a:ext cx="9144" cy="54864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3931920"/>
            <a:ext cx="2286000" cy="54864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584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Supabase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(ebook files, covers)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(payments)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5440680"/>
            <a:ext cx="10149840" cy="640080"/>
          </a:xfrm>
          <a:prstGeom prst="roundRect">
            <a:avLst>
              <a:gd name="adj" fmla="val 11429"/>
            </a:avLst>
          </a:prstGeom>
          <a:solidFill>
            <a:srgbClr val="F3ECDD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an external uptime monitor ping the backend's health endpoint every few minutes, so Render's free-tier inactivity spin-down never triggers.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Frontend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61391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499616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Turbopack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55448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1" descr="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61391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93408" y="1499616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component-driven UI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2" descr="icons/puzzlePiec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784348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267004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+ shadcn/ui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on Base UI primitives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035040" y="2724912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3" name="Image 3" descr="icons/sync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784348"/>
            <a:ext cx="338328" cy="3383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93408" y="267004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Server-state caching &amp; invalidation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6" name="Image 4" descr="icons/check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954780"/>
            <a:ext cx="338328" cy="3383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8448" y="3840480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validated forms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035040" y="3895344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9" name="Image 5" descr="icons/clou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3954780"/>
            <a:ext cx="338328" cy="3383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93408" y="3840480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API client with auth interceptor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" y="5065776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22" name="Image 6" descr="icons/bookOpen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5125212"/>
            <a:ext cx="338328" cy="3383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98448" y="5010912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react-pdf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PDF rendering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035040" y="5065776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25" name="Image 7" descr="icons/boo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476" y="5125212"/>
            <a:ext cx="338328" cy="3383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93408" y="5010912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epubjs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EPUB rendering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Backend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serv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4168" y="159105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controller / service / repository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164592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1" descr="icons/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20" y="171130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39128" y="159105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7.1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via OAuth2 Resource Server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2" descr="icons/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128620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44168" y="300837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 7.4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persistence over PostgreSQL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035040" y="306324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3" name="Image 3" descr="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420" y="3128620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9128" y="300837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Supabase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6" name="Image 4" descr="icons/cod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4545940"/>
            <a:ext cx="372161" cy="3721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44168" y="442569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Maven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dependency management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035040" y="4480560"/>
            <a:ext cx="502920" cy="5029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9" name="Image 5" descr="icons/clou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420" y="4545940"/>
            <a:ext cx="372161" cy="37216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39128" y="4425696"/>
            <a:ext cx="4416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reproducible runtime image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LibMan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0876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041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51660" y="1828800"/>
            <a:ext cx="822960" cy="82296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5" name="Image 0" descr="icons/us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645" y="1935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743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catalogue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titles &amp; authors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 sign 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50876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041632"/>
          </a:solidFill>
          <a:ln w="12700">
            <a:solidFill>
              <a:srgbClr val="0416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3540" y="1828800"/>
            <a:ext cx="822960" cy="82296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0" name="Image 1" descr="icons/graduationCa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5" y="19357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2743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480560" y="333756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physical &amp; ebook titles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loan duration (1 min–30 days)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extend, pay charges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ebooks in-browser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18120" y="150876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04163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075420" y="1828800"/>
            <a:ext cx="822960" cy="82296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5" name="Image 2" descr="icons/user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405" y="193578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18120" y="2743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Librarian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092440" y="333756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requests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catalogue &amp; covers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ebook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returns, users, reports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12080" y="14173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41632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94560" y="2423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borrow_requests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12080" y="2423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0" y="2423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34290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34290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4434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/ copies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4434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ebook_editions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5440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5440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ebook_loans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1920240"/>
            <a:ext cx="3017520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92024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920240"/>
            <a:ext cx="3017520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92608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92608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93192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393192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4937760"/>
            <a:ext cx="9144" cy="502920"/>
          </a:xfrm>
          <a:prstGeom prst="line">
            <a:avLst/>
          </a:prstGeom>
          <a:noFill/>
          <a:ln w="12700">
            <a:solidFill>
              <a:srgbClr val="5B64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state is driven largely by PostgreSQL triggers — approval creates the loan, collection sets the due date, and return releases the copy or advances the queue.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834640"/>
            <a:ext cx="1005840" cy="1005840"/>
          </a:xfrm>
          <a:prstGeom prst="ellipse">
            <a:avLst/>
          </a:prstGeom>
          <a:solidFill>
            <a:srgbClr val="041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3337560"/>
            <a:ext cx="73152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2834640"/>
            <a:ext cx="1005840" cy="10058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402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3337560"/>
            <a:ext cx="73152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0560" y="2834640"/>
            <a:ext cx="1005840" cy="1005840"/>
          </a:xfrm>
          <a:prstGeom prst="ellipse">
            <a:avLst/>
          </a:prstGeom>
          <a:solidFill>
            <a:srgbClr val="04163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690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(6-hour window)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3337560"/>
            <a:ext cx="73152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2834640"/>
            <a:ext cx="1005840" cy="10058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8978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3337560"/>
            <a:ext cx="73152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2834640"/>
            <a:ext cx="1005840" cy="1005840"/>
          </a:xfrm>
          <a:prstGeom prst="ellipse">
            <a:avLst/>
          </a:prstGeom>
          <a:solidFill>
            <a:srgbClr val="041632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266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9720" y="3337560"/>
            <a:ext cx="73152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66960" y="2834640"/>
            <a:ext cx="1005840" cy="10058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55548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opens a six-hour collection window on the held copy. If the item is never collected, a scheduled job automatically releases it — back to the catalogue, or to the next student in the reservation queue — at no cost to the student who never took it.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Borrower-Chosen Loan Duration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1920240"/>
          </a:xfrm>
          <a:prstGeom prst="roundRect">
            <a:avLst>
              <a:gd name="adj" fmla="val 5714"/>
            </a:avLst>
          </a:prstGeom>
          <a:solidFill>
            <a:srgbClr val="0416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minute  →  30 days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463040" y="411480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choose exactly how long they need an item at the moment they request it — for physical copies, or for ebooks. The due date is calculated automatically: for physical loans, from the moment the copy is actually collected, not from when the request was approved.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04688" y="5394960"/>
            <a:ext cx="1188720" cy="118872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0" descr="icons/clock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222" y="5549494"/>
            <a:ext cx="879653" cy="8796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Lending &amp; In-Browser Reading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upload a PDF or EPUB file per digital edition, stored securely in Supabase Storage.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borrow with a self-chosen duration, exactly like physical items.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render directly in the browser — no separate app or file download.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reading mode on both PDF and EPUB formats.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0" y="182880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240280"/>
            <a:ext cx="822960" cy="82296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6" name="Image 0" descr="icons/bookOpe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505" y="23472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315200" y="38404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4251960"/>
            <a:ext cx="822960" cy="82296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0" name="Image 1" descr="icons/bookOpe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505" y="435894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953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EPUB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 &amp; Fines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moneyBil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1762963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163677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days overdue × a librarian-configurable per-day rate.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1" descr="icons/triangleExclaim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" y="286024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273405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/ loss charge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title's replacement cost, applied on a damaged or lost return.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2" descr="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39575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383133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membership fee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₵25, generated automatically for every student each month.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31520" y="498348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3" name="Image 3" descr="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" y="5054803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1328" y="492861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= blocked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unpaid charge blocks all further borrowing — physical and digital — until cleared.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Payments with Paystack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Opens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54680" y="2423160"/>
            <a:ext cx="36576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6616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Reference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2423160"/>
            <a:ext cx="36576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041632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Paystack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41080" y="2423160"/>
            <a:ext cx="365760" cy="9144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828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Paid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3040" y="3749040"/>
            <a:ext cx="9235440" cy="1371600"/>
          </a:xfrm>
          <a:prstGeom prst="roundRect">
            <a:avLst>
              <a:gd name="adj" fmla="val 6667"/>
            </a:avLst>
          </a:prstGeom>
          <a:solidFill>
            <a:srgbClr val="F3ECDD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success is never trusted from the client.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4348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reference is independently re-verified against Paystack's own API — checking both that it succeeded and that the amount paid exactly matches the charge — before anything is marked paid.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Installable on Any Device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6309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on Android and iOS alike.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app icon, splash colours, and a real app name.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display — opens without browser chrome.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worker provides the offline shell installability requires.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778240" y="1463040"/>
            <a:ext cx="2377440" cy="4206240"/>
          </a:xfrm>
          <a:prstGeom prst="roundRect">
            <a:avLst>
              <a:gd name="adj" fmla="val 9615"/>
            </a:avLst>
          </a:prstGeom>
          <a:solidFill>
            <a:srgbClr val="041632"/>
          </a:solidFill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017520"/>
            <a:ext cx="914400" cy="9144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6" name="Image 0" descr="icons/mobil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2" y="31363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4" name="Image 0" descr="icons/shiel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157414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5389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password stored with bcrypt — never in plain text.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7" name="Image 1" descr="icons/checkCircl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253426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4140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HS256-signed bearer tokens, scoped per request.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0" name="Image 2" descr="icons/databas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3494380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3741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out of source control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keys live only in environment configuration.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3" name="Image 3" descr="icons/creditCard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4454500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33425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Server-verified payments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is confirmed against Paystack's API, never the client.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31520" y="5349240"/>
            <a:ext cx="502920" cy="5029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6" name="Image 4" descr="icons/cloud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00" y="5414620"/>
            <a:ext cx="372161" cy="3721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52943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known, explicit frontend origins may call the API.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flas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1762963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163677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for pure business logic — late fees, replacement charges.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7" name="Image 1" descr="icons/checkCirc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" y="286024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273405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verification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ESLint, and a full production build on every change.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2" descr="icons/sync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39575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383133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walkthroughs against live Supabase data and Paystack test mode.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31520" y="498348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3" name="Image 3" descr="icons/bu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" y="5054803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1328" y="492861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happy path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reproduced real production bugs before fixing them.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Bugs, Real Fixes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3ECDD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5" name="Image 0" descr="icons/bu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9339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endpoints returned HTTP 500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25146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couldn't infer a bind parameter's type → explicit CAST in the query.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164592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3ECDD"/>
          </a:solidFill>
          <a:ln/>
        </p:spPr>
      </p:sp>
      <p:sp>
        <p:nvSpPr>
          <p:cNvPr id="9" name="Shape 6"/>
          <p:cNvSpPr/>
          <p:nvPr/>
        </p:nvSpPr>
        <p:spPr>
          <a:xfrm>
            <a:off x="6217920" y="187452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0" name="Image 1" descr="icons/bu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93395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1828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failed for every file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09360" y="25146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manually-set header stripped the multipart boundary → let the browser set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3ECDD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15" name="Image 2" descr="icons/bu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89991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794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reader showed huge blank gaps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44805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scanned page's size was reused for the whole book → each page now sizes independently.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989320" y="361188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3ECDD"/>
          </a:solidFill>
          <a:ln/>
        </p:spPr>
      </p:sp>
      <p:sp>
        <p:nvSpPr>
          <p:cNvPr id="19" name="Shape 14"/>
          <p:cNvSpPr/>
          <p:nvPr/>
        </p:nvSpPr>
        <p:spPr>
          <a:xfrm>
            <a:off x="6217920" y="3840480"/>
            <a:ext cx="457200" cy="45720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20" name="Image 3" descr="icons/bu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3899916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3794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failed only on Linux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09360" y="44805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dependency's lockfile entry was incomplete → pinned it explicitly.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 — Next.js)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0" y="21031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41632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103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 — Spring Boot)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2514600"/>
            <a:ext cx="2011680" cy="9144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5120640" y="2514600"/>
            <a:ext cx="2011680" cy="9144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23360" y="35661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+ Storage)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926080"/>
            <a:ext cx="9144" cy="64008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411480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41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4114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926080"/>
            <a:ext cx="365760" cy="1188720"/>
          </a:xfrm>
          <a:prstGeom prst="line">
            <a:avLst/>
          </a:prstGeom>
          <a:noFill/>
          <a:ln w="25400">
            <a:solidFill>
              <a:srgbClr val="04163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3ECDD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512064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7" name="Image 0" descr="icons/sync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5191963"/>
            <a:ext cx="405994" cy="4059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83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1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availability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(every 10 minutes) and an external uptime monitor (every 5 minutes) both ping /actuator/health, so Render's 15-minute inactivity spin-down never fires.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041632"/>
          </a:solidFill>
          <a:ln/>
        </p:spPr>
      </p:sp>
      <p:pic>
        <p:nvPicPr>
          <p:cNvPr id="4" name="Image 0" descr="icons/triangleExclai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1671523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fulfilment doesn't yet offer a custom loan duration.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deploys are triggered manually, not on every push.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worker provides a basic offline shell only.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8" name="Image 1" descr="icons/lightbulb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167152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1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922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push-to-deploy once Cloudflare's build tooling stabilizes.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loan duration on reservation fulfilment.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automated frontend test coverage.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due-date reminders.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ookOpen-gol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418320" y="137160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Built. Tested. Deployed.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4290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LibMan delivers a complete library management system — catalogue, circulation, digital lending, real payments, and librarian administration — running in production on cloud infrastructure today.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686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github.com/AsanteAigu/LibMan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2026-08-15T08:29:32Z</dcterms:created>
  <dcterms:modified xsi:type="dcterms:W3CDTF">2026-08-15T08:29:32Z</dcterms:modified>
</cp:coreProperties>
</file>